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1440" y="0"/>
            <a:ext cx="9052560" cy="73152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65760" y="274320"/>
            <a:ext cx="1463040" cy="320040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65760" y="27432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CS-3006 | PDC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5760" y="82296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 Poisson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5760" y="160020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Image Editing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2514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Parallel &amp; Distributed Computing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60" y="3063240"/>
            <a:ext cx="1371600" cy="292608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365760" y="306324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874520" y="3063240"/>
            <a:ext cx="1371600" cy="29260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874520" y="306324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383280" y="3063240"/>
            <a:ext cx="1371600" cy="292608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383280" y="306324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892040" y="3063240"/>
            <a:ext cx="1371600" cy="29260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892040" y="306324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Jacobi Iteration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65760" y="36576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Roll: 23i-0683 &amp; 23i-062</a:t>
            </a:r>
            <a:r>
              <a:rPr lang="en-US" sz="1200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2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  |  Section 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65760" y="4160520"/>
            <a:ext cx="3200400" cy="29260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365760" y="41605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Milestone 2 — Performance Report &amp;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583680" y="365760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7040880" y="365760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7498080" y="365760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955280" y="365760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8412480" y="365760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583680" y="1024128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7040880" y="1024128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498080" y="1024128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7955280" y="1024128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8412480" y="1024128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6583680" y="1682496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7040880" y="1682496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7498080" y="1682496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7955280" y="1682496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8412480" y="1682496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583680" y="2340864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040880" y="2340864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7498080" y="2340864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955280" y="2340864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412480" y="2340864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583680" y="2999232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7040880" y="2999232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498080" y="2999232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7955280" y="2999232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8412480" y="2999232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583680" y="3657600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040880" y="3657600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7498080" y="3657600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955280" y="3657600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412480" y="3657600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583680" y="4315968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040880" y="4315968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7498080" y="4315968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955280" y="4315968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412480" y="4315968"/>
            <a:ext cx="320040" cy="320040"/>
          </a:xfrm>
          <a:prstGeom prst="rect">
            <a:avLst/>
          </a:prstGeom>
          <a:solidFill>
            <a:srgbClr val="1B3A5C"/>
          </a:solidFill>
          <a:ln cap="flat" cmpd="sng" w="9525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28600" y="1188720"/>
            <a:ext cx="205740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228600" y="1188720"/>
            <a:ext cx="2057400" cy="109728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38328" y="1371600"/>
            <a:ext cx="1371600" cy="256032"/>
          </a:xfrm>
          <a:prstGeom prst="rect">
            <a:avLst/>
          </a:prstGeom>
          <a:solidFill>
            <a:srgbClr val="27AE60">
              <a:alpha val="14901"/>
            </a:srgbClr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38328" y="13716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BEST BACKEND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38328" y="17373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OpenMP (4 threads)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38328" y="2286000"/>
            <a:ext cx="1828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Up to 1.81× speedup over GCC at 512×512. Perfect output quality — PSNR &gt; 55 dB at all sizes.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468880" y="1188720"/>
            <a:ext cx="205740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2468880" y="1188720"/>
            <a:ext cx="2057400" cy="10972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2578608" y="1371600"/>
            <a:ext cx="1371600" cy="256032"/>
          </a:xfrm>
          <a:prstGeom prst="rect">
            <a:avLst/>
          </a:prstGeom>
          <a:solidFill>
            <a:srgbClr val="E67E22">
              <a:alpha val="14901"/>
            </a:srgbClr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578608" y="13716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DISTRIBUTED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578608" y="17373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MPI (4 ranks)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578608" y="2286000"/>
            <a:ext cx="1828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1.38× speedup at 2048×2048. Lower PSNR (30–36 dB) due to plain Jacobi vs Gauss-Seidel convergence.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709160" y="1188720"/>
            <a:ext cx="205740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709160" y="1188720"/>
            <a:ext cx="2057400" cy="10972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818888" y="1371600"/>
            <a:ext cx="1371600" cy="256032"/>
          </a:xfrm>
          <a:prstGeom prst="rect">
            <a:avLst/>
          </a:prstGeom>
          <a:solidFill>
            <a:srgbClr val="C0392B">
              <a:alpha val="14901"/>
            </a:srgbClr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818888" y="13716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BOTTLENECK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818888" y="17373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Hybrid MPI+OpenMP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818888" y="2286000"/>
            <a:ext cx="1828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Slower than sequential GCC at ALL sizes. Synchronisation overhead dominates on a single machine.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949440" y="1188720"/>
            <a:ext cx="205740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949440" y="1188720"/>
            <a:ext cx="2057400" cy="109728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7059168" y="1371600"/>
            <a:ext cx="1371600" cy="256032"/>
          </a:xfrm>
          <a:prstGeom prst="rect">
            <a:avLst/>
          </a:prstGeom>
          <a:solidFill>
            <a:srgbClr val="8E44AD">
              <a:alpha val="14901"/>
            </a:srgbClr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7059168" y="13716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059168" y="17373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8–124× vs 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059168" y="2286000"/>
            <a:ext cx="1828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All C++ backends (GCC, OpenMP, MPI, Hybrid) dramatically outperform the NumPy/Numba Python baselines.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Benchmarks: Intel Core i5-8265U · 4 cores / 8 threads · Ubuntu 24 · GCC 13.3 · OpenMPI 3.1 · 5000 Jacobi iterations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Experimental Setup &amp; Backends Tested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74320" y="1005840"/>
            <a:ext cx="3200400" cy="379476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57200" y="10515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Hardware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57200" y="1508760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280160" y="150876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Intel Core i5-8265U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22960" y="176479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Whiskey Lake · 4 cores / 8 threads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22960" y="202082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1.6 – 3.9 GHz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57200" y="2276856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280160" y="2276856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System RAM (shared)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57200" y="25328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280160" y="253288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Ubuntu 24 · Linux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2788920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Compiler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280160" y="278892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GCC 13.3.0 (-O3)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3044952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MPI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280160" y="304495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OpenMPI 3.1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330098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OpenMP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280160" y="330098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v4.5 (-fopenmp)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57200" y="3557016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280160" y="3557016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Intel UHD 620 iGPU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22960" y="381304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(No NVIDIA — CUDA unavailable)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749040" y="1005840"/>
            <a:ext cx="5166360" cy="379476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3931920" y="10515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Backends Tested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931920" y="148132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029200" y="148132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217920" y="1481328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Workers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858000" y="148132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Our Additions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840480" y="1737360"/>
            <a:ext cx="4937760" cy="274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840480" y="1755648"/>
            <a:ext cx="4937760" cy="265176"/>
          </a:xfrm>
          <a:prstGeom prst="rect">
            <a:avLst/>
          </a:prstGeom>
          <a:solidFill>
            <a:srgbClr val="13223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931920" y="1783080"/>
            <a:ext cx="1005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95A5A6"/>
                </a:solidFill>
                <a:latin typeface="Consolas"/>
                <a:ea typeface="Consolas"/>
                <a:cs typeface="Consolas"/>
                <a:sym typeface="Consolas"/>
              </a:rPr>
              <a:t>numpy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029200" y="178308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Python (interp.)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217920" y="178308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858000" y="1783080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Baseline 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840480" y="2029968"/>
            <a:ext cx="4937760" cy="265176"/>
          </a:xfrm>
          <a:prstGeom prst="rect">
            <a:avLst/>
          </a:prstGeom>
          <a:solidFill>
            <a:srgbClr val="1B2D4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3931920" y="2057400"/>
            <a:ext cx="1005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95A5A6"/>
                </a:solidFill>
                <a:latin typeface="Consolas"/>
                <a:ea typeface="Consolas"/>
                <a:cs typeface="Consolas"/>
                <a:sym typeface="Consolas"/>
              </a:rPr>
              <a:t>numba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29200" y="205740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JIT Python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217920" y="205740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858000" y="2057400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Baseline only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840480" y="2304288"/>
            <a:ext cx="4937760" cy="265176"/>
          </a:xfrm>
          <a:prstGeom prst="rect">
            <a:avLst/>
          </a:prstGeom>
          <a:solidFill>
            <a:srgbClr val="13223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3931920" y="2331720"/>
            <a:ext cx="1005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95A5A6"/>
                </a:solidFill>
                <a:latin typeface="Consolas"/>
                <a:ea typeface="Consolas"/>
                <a:cs typeface="Consolas"/>
                <a:sym typeface="Consolas"/>
              </a:rPr>
              <a:t>gcc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029200" y="233172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Sequential C++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217920" y="233172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 thread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858000" y="2331720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C++ baseline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840480" y="2578608"/>
            <a:ext cx="4937760" cy="265176"/>
          </a:xfrm>
          <a:prstGeom prst="rect">
            <a:avLst/>
          </a:prstGeom>
          <a:solidFill>
            <a:srgbClr val="1B2D4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931920" y="2606040"/>
            <a:ext cx="1005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17A589"/>
                </a:solidFill>
                <a:latin typeface="Consolas"/>
                <a:ea typeface="Consolas"/>
                <a:cs typeface="Consolas"/>
                <a:sym typeface="Consolas"/>
              </a:rPr>
              <a:t>openmp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029200" y="260604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Shared-mem C++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217920" y="260604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4 threads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858000" y="2606040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Adaptive convergence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840480" y="2852928"/>
            <a:ext cx="4937760" cy="265176"/>
          </a:xfrm>
          <a:prstGeom prst="rect">
            <a:avLst/>
          </a:prstGeom>
          <a:solidFill>
            <a:srgbClr val="13223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3931920" y="2880360"/>
            <a:ext cx="1005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17A589"/>
                </a:solidFill>
                <a:latin typeface="Consolas"/>
                <a:ea typeface="Consolas"/>
                <a:cs typeface="Consolas"/>
                <a:sym typeface="Consolas"/>
              </a:rPr>
              <a:t>openmp-eps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029200" y="288036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Shared-mem C++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217920" y="288036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4 threads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858000" y="2880360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Adaptive (active)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840480" y="3127248"/>
            <a:ext cx="4937760" cy="265176"/>
          </a:xfrm>
          <a:prstGeom prst="rect">
            <a:avLst/>
          </a:prstGeom>
          <a:solidFill>
            <a:srgbClr val="1B2D4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3931920" y="3154680"/>
            <a:ext cx="1005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029200" y="315468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Distributed C++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217920" y="315468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4 ranks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858000" y="3154680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Adaptive + mask-aware LB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840480" y="3401568"/>
            <a:ext cx="4937760" cy="265176"/>
          </a:xfrm>
          <a:prstGeom prst="rect">
            <a:avLst/>
          </a:prstGeom>
          <a:solidFill>
            <a:srgbClr val="13223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3931920" y="3429000"/>
            <a:ext cx="1005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mpi-eps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029200" y="342900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Distributed C++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217920" y="342900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4 ranks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858000" y="3429000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Adaptive (active)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840480" y="3675888"/>
            <a:ext cx="4937760" cy="26517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3931920" y="3703320"/>
            <a:ext cx="1005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hybrid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029200" y="370332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MPI+OpenMP C++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217920" y="370332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2r×4t=8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858000" y="3703320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New backend (our work)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840480" y="3950208"/>
            <a:ext cx="4937760" cy="265176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3931920" y="3977640"/>
            <a:ext cx="10058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hybrid-eps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029200" y="397764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MPI+OpenMP C++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217920" y="3977640"/>
            <a:ext cx="594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2r×4t=8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858000" y="3977640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New backend + adaptive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 Time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43000"/>
            <a:ext cx="512064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5577840" y="1143000"/>
            <a:ext cx="333756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5577840" y="1143000"/>
            <a:ext cx="91440" cy="804672"/>
          </a:xfrm>
          <a:prstGeom prst="rect">
            <a:avLst/>
          </a:prstGeom>
          <a:solidFill>
            <a:srgbClr val="95A5A6"/>
          </a:solidFill>
          <a:ln cap="flat" cmpd="sng" w="12700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5760720" y="118872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Python Baseline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760720" y="1417320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NumPy: 543.5s at 2048×2048. Numba: 319.7s. Python interpreter loop and GIL prevent SIMD or cache optimisation.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577840" y="2039112"/>
            <a:ext cx="333756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5577840" y="2039112"/>
            <a:ext cx="91440" cy="804672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5760720" y="208483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GCC Baseline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760720" y="2313432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4.41s → 11.63s → 39.72s. 13.7× faster than NumPy at 2048×2048. O(n²) growth confirmed — sub-quadratic since EquSolver works only on mask pixels.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577840" y="2935224"/>
            <a:ext cx="333756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577840" y="2935224"/>
            <a:ext cx="91440" cy="804672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5760720" y="298094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OpenMP Best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760720" y="3209544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Fastest at small/medium: 2.43s (512) and 6.47s (1024). At 2048×2048 takes 30.0s — slightly slower than MPI (28.85s). L3 cache overflow explains this crossover.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577840" y="3831336"/>
            <a:ext cx="333756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5577840" y="3831336"/>
            <a:ext cx="91440" cy="8046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5760720" y="387705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Hybrid Worst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760720" y="4105656"/>
            <a:ext cx="3017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5.27s, 14.26s, 61.68s — slower than sequential GCC at all sizes. Root cause: 2× MPI_Allgatherv per Jacobi iteration vs 1× per 100 iterations in standard MPI.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Speedup Analysis — S = T_gcc / T_par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5840"/>
            <a:ext cx="48463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/>
          <p:nvPr/>
        </p:nvSpPr>
        <p:spPr>
          <a:xfrm>
            <a:off x="5394960" y="1005840"/>
            <a:ext cx="3520440" cy="347472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5532120" y="10515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Speedup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532120" y="141732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583680" y="1417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512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7406640" y="1417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1024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229600" y="14173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2048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486400" y="1645920"/>
            <a:ext cx="3383280" cy="274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532120" y="169164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openmp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583680" y="16916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1.813×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406640" y="16916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1.797×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8229600" y="16916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1.323×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532120" y="194767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openmp-eps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583680" y="194767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1.833×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7406640" y="194767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1.702×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229600" y="194767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1.320×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532120" y="2203704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583680" y="2203704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1.319×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7406640" y="2203704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1.603×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229600" y="2203704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1.377×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532120" y="245973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mpi-eps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583680" y="2459736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1.384×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406640" y="2459736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1.608×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229600" y="2459736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1.307×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532120" y="271576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hybrid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583680" y="271576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0.837×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7406640" y="271576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0.816×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8229600" y="2715768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0.644×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532120" y="297180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hybrid-eps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583680" y="29718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0.769×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7406640" y="29718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0.779×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229600" y="29718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0.693×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486400" y="3657600"/>
            <a:ext cx="3383280" cy="64008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5577840" y="36576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⚑  GCC baseline = 1.0×. Values below 1.0 (hybrid) mean slower than sequential C++.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Parallel Efficiency — E = Speedup / Workers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43000"/>
            <a:ext cx="475488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"/>
          <p:cNvSpPr/>
          <p:nvPr/>
        </p:nvSpPr>
        <p:spPr>
          <a:xfrm>
            <a:off x="5257800" y="1143000"/>
            <a:ext cx="36118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349240" y="1207008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989320" y="120700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Wrkrs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446520" y="120700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@512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6949440" y="120700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@1024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7452360" y="120700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@2048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7909560" y="120700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303520" y="1435608"/>
            <a:ext cx="3474720" cy="2743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5349240" y="1463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openmp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989320" y="146304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446520" y="14630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45.3%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949440" y="14630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44.9%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452360" y="14630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33.1%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7909560" y="146304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Memory-bound: L3 cache overflow at large sizes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349240" y="189280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openmp-eps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989320" y="189280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446520" y="1892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45.8%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6949440" y="1892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42.6%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7452360" y="18928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33.0%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7909560" y="1892808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Identical — eps=0.01 never triggers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5349240" y="2322576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989320" y="232257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6446520" y="232257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33.0%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6949440" y="232257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40.1%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452360" y="232257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34.4%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7909560" y="232257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Comm. overhead at small size; improves with scale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349240" y="2752344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mpi-eps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989320" y="2752344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446520" y="275234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34.6%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949440" y="275234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40.2%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7452360" y="275234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32.7%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7909560" y="275234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Slightly better at small size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349240" y="318211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hybrid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989320" y="318211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446520" y="318211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10.5%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949440" y="318211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10.2%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7452360" y="318211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8.0%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7909560" y="3182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Dominated by per-iter MPI_Allgatherv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349240" y="361188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50"/>
              <a:buFont typeface="Consolas"/>
              <a:buNone/>
            </a:pPr>
            <a:r>
              <a:rPr b="1" i="0" lang="en-US" sz="7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hybrid-eps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989320" y="3611880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446520" y="36118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9.6%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949440" y="36118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9.7%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7452360" y="361188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8.7%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7909560" y="361188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Dominated by sync overhead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303520" y="4160520"/>
            <a:ext cx="3474720" cy="502920"/>
          </a:xfrm>
          <a:prstGeom prst="rect">
            <a:avLst/>
          </a:prstGeom>
          <a:solidFill>
            <a:srgbClr val="FFF3CD"/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5394960" y="4160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4E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D4E00"/>
                </a:solidFill>
                <a:latin typeface="Calibri"/>
                <a:ea typeface="Calibri"/>
                <a:cs typeface="Calibri"/>
                <a:sym typeface="Calibri"/>
              </a:rPr>
              <a:t>Key insight: No backend exceeds 46% efficiency. The Jacobi kernel is memory-bound — it reads 4 neighbours per pixel write (4:1 ratio), stressing shared memory bus.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Quality — PSNR &amp; SSIM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5840"/>
            <a:ext cx="50292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/>
          <p:nvPr/>
        </p:nvSpPr>
        <p:spPr>
          <a:xfrm>
            <a:off x="5486400" y="1005840"/>
            <a:ext cx="3429000" cy="356616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5623560" y="10515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Quality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596128" y="1417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601968" y="14173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PSNR@2048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7516368" y="141732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SSIM@2048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8430768" y="141732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Grade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5559552" y="1645920"/>
            <a:ext cx="3291840" cy="274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5596128" y="16733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95A5A6"/>
                </a:solidFill>
                <a:latin typeface="Consolas"/>
                <a:ea typeface="Consolas"/>
                <a:cs typeface="Consolas"/>
                <a:sym typeface="Consolas"/>
              </a:rPr>
              <a:t>gcc (ref)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601968" y="16733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516368" y="167335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1.0000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8412480" y="1700784"/>
            <a:ext cx="658368" cy="182880"/>
          </a:xfrm>
          <a:prstGeom prst="rect">
            <a:avLst/>
          </a:prstGeom>
          <a:solidFill>
            <a:srgbClr val="95A5A6">
              <a:alpha val="25098"/>
            </a:srgbClr>
          </a:solidFill>
          <a:ln cap="flat" cmpd="sng" w="9525">
            <a:solidFill>
              <a:srgbClr val="95A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8430768" y="1673352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5596128" y="194767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openmp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601968" y="194767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57.14 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7516368" y="194767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0.99998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8412480" y="1975104"/>
            <a:ext cx="658368" cy="182880"/>
          </a:xfrm>
          <a:prstGeom prst="rect">
            <a:avLst/>
          </a:prstGeom>
          <a:solidFill>
            <a:srgbClr val="27AE60">
              <a:alpha val="25098"/>
            </a:srgbClr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8430768" y="1947672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Excellent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596128" y="22219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openmp-eps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6601968" y="22219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57.14 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7516368" y="222199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0.99998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8412480" y="2249424"/>
            <a:ext cx="658368" cy="182880"/>
          </a:xfrm>
          <a:prstGeom prst="rect">
            <a:avLst/>
          </a:prstGeom>
          <a:solidFill>
            <a:srgbClr val="27AE60">
              <a:alpha val="25098"/>
            </a:srgbClr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8430768" y="2221992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Excellent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5596128" y="24963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601968" y="24963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35.75 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7516368" y="249631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0.9968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8412480" y="2523744"/>
            <a:ext cx="658368" cy="182880"/>
          </a:xfrm>
          <a:prstGeom prst="rect">
            <a:avLst/>
          </a:prstGeom>
          <a:solidFill>
            <a:srgbClr val="E67E22">
              <a:alpha val="25098"/>
            </a:srgbClr>
          </a:solidFill>
          <a:ln cap="flat" cmpd="sng" w="95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8430768" y="2496312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Acceptable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5596128" y="27706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mpi-eps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6601968" y="27706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35.75 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7516368" y="277063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0.9968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8412480" y="2798064"/>
            <a:ext cx="658368" cy="182880"/>
          </a:xfrm>
          <a:prstGeom prst="rect">
            <a:avLst/>
          </a:prstGeom>
          <a:solidFill>
            <a:srgbClr val="E67E22">
              <a:alpha val="25098"/>
            </a:srgbClr>
          </a:solidFill>
          <a:ln cap="flat" cmpd="sng" w="95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8430768" y="2770632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Acceptable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5596128" y="3044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hybrid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6601968" y="304495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57.14 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7516368" y="304495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0.99998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8412480" y="3072384"/>
            <a:ext cx="658368" cy="182880"/>
          </a:xfrm>
          <a:prstGeom prst="rect">
            <a:avLst/>
          </a:prstGeom>
          <a:solidFill>
            <a:srgbClr val="27AE60">
              <a:alpha val="25098"/>
            </a:srgbClr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8430768" y="3044952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Excellent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5596128" y="331927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hybrid-eps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601968" y="331927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57.14 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7516368" y="3319272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0.99998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8412480" y="3346704"/>
            <a:ext cx="658368" cy="182880"/>
          </a:xfrm>
          <a:prstGeom prst="rect">
            <a:avLst/>
          </a:prstGeom>
          <a:solidFill>
            <a:srgbClr val="27AE60">
              <a:alpha val="25098"/>
            </a:srgbClr>
          </a:solidFill>
          <a:ln cap="flat" cmpd="sng" w="9525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8430768" y="3319272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Excellent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559552" y="4096512"/>
            <a:ext cx="3291840" cy="502920"/>
          </a:xfrm>
          <a:prstGeom prst="rect">
            <a:avLst/>
          </a:prstGeom>
          <a:solidFill>
            <a:srgbClr val="1B3A5C"/>
          </a:solidFill>
          <a:ln cap="flat" cmpd="sng" w="190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5650992" y="409651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MPI's lower PSNR: uses plain Jacobi, not Gauss-Seidel. After 5000 iterations, larger residual → measurable pixel difference. To match OpenMP quality, MPI needs ~8000–10000 iterations.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— OpenMP &amp; MPI Backends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274320" y="1143000"/>
            <a:ext cx="4114800" cy="2377440"/>
          </a:xfrm>
          <a:prstGeom prst="rect">
            <a:avLst/>
          </a:prstGeom>
          <a:solidFill>
            <a:srgbClr val="1E2533"/>
          </a:solidFill>
          <a:ln cap="flat" cmpd="sng" w="19050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274320" y="1143000"/>
            <a:ext cx="4114800" cy="292608"/>
          </a:xfrm>
          <a:prstGeom prst="rect">
            <a:avLst/>
          </a:prstGeom>
          <a:solidFill>
            <a:srgbClr val="141B24"/>
          </a:solidFill>
          <a:ln cap="flat" cmpd="sng" w="12700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365760" y="11430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7A589"/>
                </a:solidFill>
                <a:latin typeface="Consolas"/>
                <a:ea typeface="Consolas"/>
                <a:cs typeface="Consolas"/>
                <a:sym typeface="Consolas"/>
              </a:rPr>
              <a:t>openmp_solver.cpp — Red/Black Jacobi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365750" y="1481324"/>
            <a:ext cx="3840600" cy="18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// Red phase — update odd-index pixels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#pragma omp parallel for schedule(dynamic)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for (int k = 0; k &lt; n_eqs; k += 2)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  f[k] = (f[k-1] + f[k+1] + f[k-W] + f[k+W] + b[k]) / 4.0f;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// Black phase — update even-index pixels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#pragma omp parallel for schedule(dynamic)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for (int k = 1; k &lt; n_eqs; k += 2)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  f[k] = (f[k-1] + f[k+1] + f[k-W] + f[k+W] + b[k]) / 4.0f;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617720" y="1143000"/>
            <a:ext cx="4251960" cy="2377440"/>
          </a:xfrm>
          <a:prstGeom prst="rect">
            <a:avLst/>
          </a:prstGeom>
          <a:solidFill>
            <a:srgbClr val="1E2533"/>
          </a:solidFill>
          <a:ln cap="flat" cmpd="sng" w="19050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4617720" y="1143000"/>
            <a:ext cx="4251960" cy="292608"/>
          </a:xfrm>
          <a:prstGeom prst="rect">
            <a:avLst/>
          </a:prstGeom>
          <a:solidFill>
            <a:srgbClr val="141B24"/>
          </a:solidFill>
          <a:ln cap="flat" cmpd="sng" w="12700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4709160" y="114300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mpi_solver.cpp — Distributed Jacobi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709160" y="1481328"/>
            <a:ext cx="39776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// Each rank updates its slice for min_interval steps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for (int t = 0; t &lt; min_interval; t++)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  for (int k = rank_start; k &lt; rank_end; k++)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    f_new[k] = (f[k-1]+f[k+1]+f[k-W]+f[k+W]+b[k])/4.0f;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  std::swap(f, f_new);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// Synchronise full solution vector across all ranks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MPI_Bcast(f.data(), N, MPI_FLOAT, 0, MPI_COMM_WORLD);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457200" y="43159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nsolas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800600" y="4315968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onsolas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Hybrid is Slower — Deep Dive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228600" y="1005840"/>
            <a:ext cx="2834640" cy="320040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228600" y="1005840"/>
            <a:ext cx="2834640" cy="10972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338328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338328" y="16002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 Frequency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338328" y="210312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Standard MPI syncs every 100 iterations (ratio 1:100). Hybrid must sync EVERY iteration — twice — for correctness of the red/black scheme across ranks. This gives a 2:1 ratio: communication costs more than computation.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338328" y="3520440"/>
            <a:ext cx="2606040" cy="27432"/>
          </a:xfrm>
          <a:prstGeom prst="rect">
            <a:avLst/>
          </a:prstGeom>
          <a:solidFill>
            <a:srgbClr val="C0392B">
              <a:alpha val="50196"/>
            </a:srgbClr>
          </a:solidFill>
          <a:ln cap="flat" cmpd="sng" w="12700">
            <a:solidFill>
              <a:srgbClr val="C0392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338328" y="3566160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min_interval=100 → MPI_Bcast once per 100 steps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Hybrid → 2× MPI_Allgatherv per step = 200× more comms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3218688" y="1005840"/>
            <a:ext cx="2834640" cy="320040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3218688" y="1005840"/>
            <a:ext cx="2834640" cy="10972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3328416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3328416" y="16002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MPI Overhead on Shared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3328416" y="210312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On a single machine, all MPI processes share physical DRAM. MPI_Allgatherv on shared memory still requires system calls, memory copies, and process synchronisation barriers.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3328416" y="3520440"/>
            <a:ext cx="2606040" cy="27432"/>
          </a:xfrm>
          <a:prstGeom prst="rect">
            <a:avLst/>
          </a:prstGeom>
          <a:solidFill>
            <a:srgbClr val="E67E22">
              <a:alpha val="50196"/>
            </a:srgbClr>
          </a:solidFill>
          <a:ln cap="flat" cmpd="sng" w="12700">
            <a:solidFill>
              <a:srgbClr val="E67E22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3328416" y="3566160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OpenMP barrier = simple thread fence (nanoseconds)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 collective = system calls + IPC (microseconds)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6208776" y="1005840"/>
            <a:ext cx="2834640" cy="320040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6208776" y="1005840"/>
            <a:ext cx="2834640" cy="109728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6318504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6318504" y="16002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 Spawn Overhead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318504" y="210312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Each mpirun invocation spawns 2 separate OS processes — each loading Python interpreter, importing fpie, and initialising MPI. This fixed cost is visible at 512×512: 5.27s vs GCC's 4.41s is largely startup.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6318504" y="3520440"/>
            <a:ext cx="2606040" cy="27432"/>
          </a:xfrm>
          <a:prstGeom prst="rect">
            <a:avLst/>
          </a:prstGeom>
          <a:solidFill>
            <a:srgbClr val="F39C12">
              <a:alpha val="50196"/>
            </a:srgbClr>
          </a:solidFill>
          <a:ln cap="flat" cmpd="sng" w="12700">
            <a:solidFill>
              <a:srgbClr val="F39C12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6318504" y="3566160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850"/>
              <a:buFont typeface="Consolas"/>
              <a:buNone/>
            </a:pPr>
            <a:r>
              <a:rPr b="0" i="1" lang="en-US" sz="85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Most visible at small image sizes where compute time is short relative to spawn cost.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228600" y="4297680"/>
            <a:ext cx="8686800" cy="685800"/>
          </a:xfrm>
          <a:prstGeom prst="rect">
            <a:avLst/>
          </a:prstGeom>
          <a:solidFill>
            <a:srgbClr val="1B3A5C"/>
          </a:solidFill>
          <a:ln cap="flat" cmpd="sng" w="1905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411480" y="431596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Proposed Fix: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1554480" y="4315968"/>
            <a:ext cx="7178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The hybrid backend would outperform OpenMP on a real multi-node cluster where each MPI rank runs on a separate node with its own DRAM and L3 cache, and where InfiniBand/100GbE replaces shared-memory IPC. On a single laptop, pure OpenMP is strictly superior to any MPI-based approach.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MPI Has Lower PSNR — Solver Convergence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274320" y="1143000"/>
            <a:ext cx="41148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274320" y="1143000"/>
            <a:ext cx="4114800" cy="292608"/>
          </a:xfrm>
          <a:prstGeom prst="rect">
            <a:avLst/>
          </a:prstGeom>
          <a:solidFill>
            <a:srgbClr val="27AE60">
              <a:alpha val="20000"/>
            </a:srgbClr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365760" y="114300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Gauss-Seidel (GCC / OpenMP / Hybrid)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411480" y="1508760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Uses red/black (checkerboard) decomposition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411480" y="1865376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When updating a RED pixel, its BLACK neighbours have ALREADY been updated in the same iteration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11480" y="2221992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This is the Gauss-Seidel method — uses the most current available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411480" y="2578608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Converges ~2× faster than plain Jacobi for the Poisson equation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411480" y="2935224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After 5000 iterations: solution tightly converged → PSNR &gt; 55 dB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411480" y="3291840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Each iteration reads updated neighbours immediately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754880" y="1143000"/>
            <a:ext cx="41148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4754880" y="1143000"/>
            <a:ext cx="4114800" cy="292608"/>
          </a:xfrm>
          <a:prstGeom prst="rect">
            <a:avLst/>
          </a:prstGeom>
          <a:solidFill>
            <a:srgbClr val="C0392B">
              <a:alpha val="20000"/>
            </a:srgbClr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4846320" y="114300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Plain Jacobi (MPI backend)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4846320" y="1508760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Each rank updates its slice using values from the PREVIOUS iteration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4846320" y="1865376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All pixels see the same generation of data — stale for inter-rank neighbours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846320" y="2221992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Spectral radius of Jacobi iteration matrix is close to 1 for Poisson on large grids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846320" y="2578608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Converges ~2× more slowly than Gauss-Seidel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846320" y="2935224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After 5000 iterations: solution NOT fully converged → PSNR 30–36 dB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846320" y="3291840"/>
            <a:ext cx="3886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b="0" i="0" lang="en-US" sz="9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 match OpenMP quality: needs 8000–10000 iterations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Fix: Replace MPI's plain Jacobi with colour-based domain decomposition where ranks exchange boundary rows every iteration (not every 100). Maintains Gauss-Seidel convergence at modest communication cost — eliminates the quality gap entirely.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3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Scaling Analysis — Fixed Workers, Growing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8" name="Google Shape;4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584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3"/>
          <p:cNvSpPr/>
          <p:nvPr/>
        </p:nvSpPr>
        <p:spPr>
          <a:xfrm>
            <a:off x="5669280" y="1005840"/>
            <a:ext cx="3337560" cy="109728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5669280" y="1005840"/>
            <a:ext cx="109728" cy="1097280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5870448" y="10972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GCC: Sub-O(n²)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5870448" y="1389888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GCC grows 1 : 2.64 : 9.0 vs ideal 1 : 4 : 16. Sub-quadratic because EquSolver operates only on mask pixels, not the full image.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5669280" y="2240280"/>
            <a:ext cx="3337560" cy="109728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5669280" y="2240280"/>
            <a:ext cx="109728" cy="109728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3"/>
          <p:cNvSpPr/>
          <p:nvPr/>
        </p:nvSpPr>
        <p:spPr>
          <a:xfrm>
            <a:off x="5870448" y="233172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OpenMP: Cache Overflow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5870448" y="2624328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Speedup shrinks from 1.81× → 1.32× as size grows. At 2048×2048 the three float arrays exceed 50 MB — far beyond the 6 MB L3 cache. All 4 threads compete for DRAM.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5669280" y="3474720"/>
            <a:ext cx="3337560" cy="109728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5669280" y="3474720"/>
            <a:ext cx="109728" cy="109728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5870448" y="35661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MPI: Improves with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5870448" y="3858768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MPI speedup improves from 1.32× → 1.38× with size. Each rank's working set is ¼ the total — fits better in cache. MPI overtakes OpenMP at 2048×2048.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8E44AD"/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Adaptive Convergence — Early Stopping via L1 Residual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274320" y="1143000"/>
            <a:ext cx="4206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457200" y="120700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we implemented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457200" y="1554480"/>
            <a:ext cx="3840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Instead of running a fixed 5000-iteration budget, the eps-enabled backends monitor the L1 residual norm every N iterations and terminate early when:</a:t>
            </a:r>
            <a:b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  ||r||₁ &lt; ε  (eps flag, default 0.01)</a:t>
            </a:r>
            <a:br>
              <a:rPr b="1" i="0" lang="en-US" sz="10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0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This avoids wasted computation once the solution has sufficiently converged. Implemented via a parallel reduction across all threads/ranks.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457200" y="30906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we 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457200" y="340156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 eps=0.01, the threshold is NEVER triggered within 5000 iterations for any of the tested image sizes. The adaptive openmp-eps backend takes nearly identical time as openmp — confirming the residual remains above 0.01 throughout.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274320" y="4297680"/>
            <a:ext cx="4206240" cy="594360"/>
          </a:xfrm>
          <a:prstGeom prst="rect">
            <a:avLst/>
          </a:prstGeom>
          <a:solidFill>
            <a:srgbClr val="1E2533"/>
          </a:solidFill>
          <a:ln cap="flat" cmpd="sng" w="19050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411480" y="4315968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if (iter % check_every == 0)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  residual = compute_l1_norm(f, b, n);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  if (residual &lt; eps) break;  // early stop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CF0F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4754880" y="1143000"/>
            <a:ext cx="416052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4"/>
          <p:cNvSpPr/>
          <p:nvPr/>
        </p:nvSpPr>
        <p:spPr>
          <a:xfrm>
            <a:off x="4937760" y="120700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eps Timing Comparison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4892040" y="1508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5897880" y="15087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@512s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6583680" y="15087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@1024s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7269480" y="15087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@2048s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8275320" y="150876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58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7A589"/>
                </a:solidFill>
                <a:latin typeface="Calibri"/>
                <a:ea typeface="Calibri"/>
                <a:cs typeface="Calibri"/>
                <a:sym typeface="Calibri"/>
              </a:rPr>
              <a:t>Δ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4800600" y="1737360"/>
            <a:ext cx="3977640" cy="274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4"/>
          <p:cNvSpPr/>
          <p:nvPr/>
        </p:nvSpPr>
        <p:spPr>
          <a:xfrm>
            <a:off x="4892040" y="176479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openmp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5897880" y="17647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2.433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6583680" y="17647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6.474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7269480" y="17647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30.028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8275320" y="176479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4892040" y="20574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95A5A6"/>
                </a:solidFill>
                <a:latin typeface="Consolas"/>
                <a:ea typeface="Consolas"/>
                <a:cs typeface="Consolas"/>
                <a:sym typeface="Consolas"/>
              </a:rPr>
              <a:t>openmp-eps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5897880" y="205740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2.407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6583680" y="205740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6.833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7269480" y="205740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30.081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8275320" y="20574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≈ 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4892040" y="235000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mpi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5897880" y="23500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3.344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6583680" y="23500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7.258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7269480" y="23500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28.848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8275320" y="2350008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4892040" y="264261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onsolas"/>
              <a:buNone/>
            </a:pPr>
            <a:r>
              <a:rPr b="1" i="0" lang="en-US" sz="850" u="none" cap="none" strike="noStrike">
                <a:solidFill>
                  <a:srgbClr val="95A5A6"/>
                </a:solidFill>
                <a:latin typeface="Consolas"/>
                <a:ea typeface="Consolas"/>
                <a:cs typeface="Consolas"/>
                <a:sym typeface="Consolas"/>
              </a:rPr>
              <a:t>mpi-eps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5897880" y="2642616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3.188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6583680" y="2642616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7.235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7269480" y="2642616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30.386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8275320" y="2642616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≈ 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4754880" y="3383280"/>
            <a:ext cx="4160520" cy="1828800"/>
          </a:xfrm>
          <a:prstGeom prst="rect">
            <a:avLst/>
          </a:prstGeom>
          <a:solidFill>
            <a:srgbClr val="FFF3CD"/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4"/>
          <p:cNvSpPr/>
          <p:nvPr/>
        </p:nvSpPr>
        <p:spPr>
          <a:xfrm>
            <a:off x="4937760" y="34472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4E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D4E00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4937760" y="3767328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4E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D4E00"/>
                </a:solidFill>
                <a:latin typeface="Calibri"/>
                <a:ea typeface="Calibri"/>
                <a:cs typeface="Calibri"/>
                <a:sym typeface="Calibri"/>
              </a:rPr>
              <a:t>Increase epsilon to 1.0 or 5.0</a:t>
            </a:r>
            <a:r>
              <a:rPr b="0" i="0" lang="en-US" sz="1000" u="none" cap="none" strike="noStrike">
                <a:solidFill>
                  <a:srgbClr val="7D4E00"/>
                </a:solidFill>
                <a:latin typeface="Calibri"/>
                <a:ea typeface="Calibri"/>
                <a:cs typeface="Calibri"/>
                <a:sym typeface="Calibri"/>
              </a:rPr>
              <a:t> and reduce max iterations to 10,000. With a looser threshold, early stopping will trigger at ~3000–4000 iterations for typical images, providing genuine time savings of 40–60%.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274320" y="4297680"/>
            <a:ext cx="4206240" cy="594360"/>
          </a:xfrm>
          <a:prstGeom prst="rect">
            <a:avLst/>
          </a:prstGeom>
          <a:solidFill>
            <a:srgbClr val="E8EFF7"/>
          </a:solidFill>
          <a:ln cap="flat" cmpd="sng" w="19050">
            <a:solidFill>
              <a:srgbClr val="B0C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4754880" y="4709160"/>
            <a:ext cx="4160520" cy="502920"/>
          </a:xfrm>
          <a:prstGeom prst="rect">
            <a:avLst/>
          </a:prstGeom>
          <a:solidFill>
            <a:srgbClr val="E8EFF7"/>
          </a:solidFill>
          <a:ln cap="flat" cmpd="sng" w="19050">
            <a:solidFill>
              <a:srgbClr val="B0C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4846320" y="4709160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 SCREENSHOT — eps benchmark output showing identical times 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Output &amp; Blending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274320" y="1005840"/>
            <a:ext cx="4206240" cy="210312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274320" y="1005840"/>
            <a:ext cx="4206240" cy="2743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365760" y="10058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Source Image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365760" y="1371600"/>
            <a:ext cx="4023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[ Insert source image used for blending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4663440" y="1005840"/>
            <a:ext cx="4206240" cy="210312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4663440" y="1005840"/>
            <a:ext cx="4206240" cy="2743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4754880" y="10058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GCC Reference 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274320" y="3200400"/>
            <a:ext cx="4206240" cy="182880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274320" y="3200400"/>
            <a:ext cx="4206240" cy="2743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365760" y="32004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OpenMP Output (PSNR 57.1 dB)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365760" y="3566160"/>
            <a:ext cx="4023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[ Insert OpenMP blended result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4663440" y="3200400"/>
            <a:ext cx="4206240" cy="182880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253F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4663440" y="3200400"/>
            <a:ext cx="4206240" cy="2743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4754880" y="32004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MPI Output (PSNR 35.7 dB)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4754880" y="3566160"/>
            <a:ext cx="4023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[ Insert MPI blended result — note any visible difference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" name="Google Shape;546;p15"/>
          <p:cNvPicPr preferRelativeResize="0"/>
          <p:nvPr/>
        </p:nvPicPr>
        <p:blipFill rotWithShape="1">
          <a:blip r:embed="rId3">
            <a:alphaModFix/>
          </a:blip>
          <a:srcRect b="22971" l="0" r="0" t="28205"/>
          <a:stretch/>
        </p:blipFill>
        <p:spPr>
          <a:xfrm>
            <a:off x="4663450" y="1298450"/>
            <a:ext cx="4206225" cy="1720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5"/>
          <p:cNvPicPr preferRelativeResize="0"/>
          <p:nvPr/>
        </p:nvPicPr>
        <p:blipFill rotWithShape="1">
          <a:blip r:embed="rId4">
            <a:alphaModFix/>
          </a:blip>
          <a:srcRect b="26181" l="0" r="0" t="25922"/>
          <a:stretch/>
        </p:blipFill>
        <p:spPr>
          <a:xfrm>
            <a:off x="274325" y="3474725"/>
            <a:ext cx="4206225" cy="1512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15"/>
          <p:cNvPicPr preferRelativeResize="0"/>
          <p:nvPr/>
        </p:nvPicPr>
        <p:blipFill rotWithShape="1">
          <a:blip r:embed="rId5">
            <a:alphaModFix/>
          </a:blip>
          <a:srcRect b="25691" l="0" r="2695" t="26414"/>
          <a:stretch/>
        </p:blipFill>
        <p:spPr>
          <a:xfrm>
            <a:off x="4663450" y="3474725"/>
            <a:ext cx="4206225" cy="15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15"/>
          <p:cNvPicPr preferRelativeResize="0"/>
          <p:nvPr/>
        </p:nvPicPr>
        <p:blipFill rotWithShape="1">
          <a:blip r:embed="rId6">
            <a:alphaModFix/>
          </a:blip>
          <a:srcRect b="20496" l="0" r="0" t="0"/>
          <a:stretch/>
        </p:blipFill>
        <p:spPr>
          <a:xfrm>
            <a:off x="919900" y="1280151"/>
            <a:ext cx="30670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6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6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6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6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Benchmark Data — Complete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137160" y="1005840"/>
            <a:ext cx="8869680" cy="2743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6"/>
          <p:cNvSpPr/>
          <p:nvPr/>
        </p:nvSpPr>
        <p:spPr>
          <a:xfrm>
            <a:off x="182880" y="10058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1371600" y="100584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2651760" y="10058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Time(s)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3520440" y="10058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4434840" y="10058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5577840" y="10058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PSNR(dB)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6812280" y="10058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SSIM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137160" y="1280160"/>
            <a:ext cx="8869680" cy="1828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6"/>
          <p:cNvSpPr/>
          <p:nvPr/>
        </p:nvSpPr>
        <p:spPr>
          <a:xfrm>
            <a:off x="137160" y="1298448"/>
            <a:ext cx="8869680" cy="21031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6"/>
          <p:cNvSpPr/>
          <p:nvPr/>
        </p:nvSpPr>
        <p:spPr>
          <a:xfrm>
            <a:off x="182880" y="1298448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95A5A6"/>
                </a:solidFill>
                <a:latin typeface="Consolas"/>
                <a:ea typeface="Consolas"/>
                <a:cs typeface="Consolas"/>
                <a:sym typeface="Consolas"/>
              </a:rPr>
              <a:t>numpy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1371600" y="1298448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2651760" y="1298448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36.291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3520440" y="1298448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4434840" y="1298448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5577840" y="1298448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6812280" y="1298448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137160" y="1522476"/>
            <a:ext cx="8869680" cy="210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182880" y="1522476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95A5A6"/>
                </a:solidFill>
                <a:latin typeface="Consolas"/>
                <a:ea typeface="Consolas"/>
                <a:cs typeface="Consolas"/>
                <a:sym typeface="Consolas"/>
              </a:rPr>
              <a:t>numba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1371600" y="1522476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2651760" y="1522476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30.297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3520440" y="1522476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4434840" y="1522476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5577840" y="1522476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6812280" y="1522476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137160" y="1746504"/>
            <a:ext cx="8869680" cy="21031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82880" y="174650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gcc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1371600" y="1746504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2651760" y="1746504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4.411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3520440" y="1746504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4434840" y="1746504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5577840" y="1746504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6812280" y="1746504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1.0000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137160" y="1970532"/>
            <a:ext cx="8869680" cy="210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6"/>
          <p:cNvSpPr/>
          <p:nvPr/>
        </p:nvSpPr>
        <p:spPr>
          <a:xfrm>
            <a:off x="182880" y="1970532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openmp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1371600" y="1970532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2651760" y="1970532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2.433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3520440" y="197053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1.813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4434840" y="197053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0.453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5577840" y="1970532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55.54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6812280" y="1970532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0.99997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137160" y="2194560"/>
            <a:ext cx="8869680" cy="21031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6"/>
          <p:cNvSpPr/>
          <p:nvPr/>
        </p:nvSpPr>
        <p:spPr>
          <a:xfrm>
            <a:off x="182880" y="219456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openmp-eps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6"/>
          <p:cNvSpPr/>
          <p:nvPr/>
        </p:nvSpPr>
        <p:spPr>
          <a:xfrm>
            <a:off x="1371600" y="2194560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2651760" y="2194560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2.407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3520440" y="2194560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1.833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4434840" y="2194560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0.458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6"/>
          <p:cNvSpPr/>
          <p:nvPr/>
        </p:nvSpPr>
        <p:spPr>
          <a:xfrm>
            <a:off x="5577840" y="2194560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55.54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6812280" y="2194560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0.99997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137160" y="2418588"/>
            <a:ext cx="8869680" cy="210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6"/>
          <p:cNvSpPr/>
          <p:nvPr/>
        </p:nvSpPr>
        <p:spPr>
          <a:xfrm>
            <a:off x="182880" y="2418588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1371600" y="2418588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2651760" y="2418588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3.344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3520440" y="2418588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1.319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4434840" y="2418588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0.330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5577840" y="2418588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30.00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6812280" y="2418588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0.99160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137160" y="2642616"/>
            <a:ext cx="8869680" cy="21031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6"/>
          <p:cNvSpPr/>
          <p:nvPr/>
        </p:nvSpPr>
        <p:spPr>
          <a:xfrm>
            <a:off x="182880" y="2642616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mpi-eps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1371600" y="2642616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2651760" y="2642616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3.188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3520440" y="2642616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1.384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4434840" y="2642616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0.346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5577840" y="2642616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30.00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6812280" y="2642616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0.99160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137160" y="2866644"/>
            <a:ext cx="8869680" cy="210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182880" y="286664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hybrid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1371600" y="2866644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2651760" y="2866644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5.273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3520440" y="2866644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0.837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4434840" y="2866644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0.105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6"/>
          <p:cNvSpPr/>
          <p:nvPr/>
        </p:nvSpPr>
        <p:spPr>
          <a:xfrm>
            <a:off x="5577840" y="2866644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55.54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6812280" y="2866644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0.99997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137160" y="3090672"/>
            <a:ext cx="8869680" cy="21031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182880" y="3090672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hybrid-eps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1371600" y="3090672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512×512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2651760" y="3090672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5.734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3520440" y="30906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0.769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4434840" y="30906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0.096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5577840" y="3090672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55.54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6812280" y="3090672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0.99997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6"/>
          <p:cNvSpPr/>
          <p:nvPr/>
        </p:nvSpPr>
        <p:spPr>
          <a:xfrm>
            <a:off x="137160" y="3296412"/>
            <a:ext cx="8869680" cy="1828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6"/>
          <p:cNvSpPr/>
          <p:nvPr/>
        </p:nvSpPr>
        <p:spPr>
          <a:xfrm>
            <a:off x="137160" y="3314700"/>
            <a:ext cx="8869680" cy="210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6"/>
          <p:cNvSpPr/>
          <p:nvPr/>
        </p:nvSpPr>
        <p:spPr>
          <a:xfrm>
            <a:off x="182880" y="331470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gcc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1371600" y="3314700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1024×1024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6"/>
          <p:cNvSpPr/>
          <p:nvPr/>
        </p:nvSpPr>
        <p:spPr>
          <a:xfrm>
            <a:off x="2651760" y="3314700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11.632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6"/>
          <p:cNvSpPr/>
          <p:nvPr/>
        </p:nvSpPr>
        <p:spPr>
          <a:xfrm>
            <a:off x="3520440" y="3314700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6"/>
          <p:cNvSpPr/>
          <p:nvPr/>
        </p:nvSpPr>
        <p:spPr>
          <a:xfrm>
            <a:off x="4434840" y="3314700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6"/>
          <p:cNvSpPr/>
          <p:nvPr/>
        </p:nvSpPr>
        <p:spPr>
          <a:xfrm>
            <a:off x="5577840" y="3314700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6"/>
          <p:cNvSpPr/>
          <p:nvPr/>
        </p:nvSpPr>
        <p:spPr>
          <a:xfrm>
            <a:off x="6812280" y="3314700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1.0000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6"/>
          <p:cNvSpPr/>
          <p:nvPr/>
        </p:nvSpPr>
        <p:spPr>
          <a:xfrm>
            <a:off x="137160" y="3538728"/>
            <a:ext cx="8869680" cy="21031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6"/>
          <p:cNvSpPr/>
          <p:nvPr/>
        </p:nvSpPr>
        <p:spPr>
          <a:xfrm>
            <a:off x="182880" y="3538728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openmp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6"/>
          <p:cNvSpPr/>
          <p:nvPr/>
        </p:nvSpPr>
        <p:spPr>
          <a:xfrm>
            <a:off x="1371600" y="3538728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1024×1024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6"/>
          <p:cNvSpPr/>
          <p:nvPr/>
        </p:nvSpPr>
        <p:spPr>
          <a:xfrm>
            <a:off x="2651760" y="3538728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6.474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6"/>
          <p:cNvSpPr/>
          <p:nvPr/>
        </p:nvSpPr>
        <p:spPr>
          <a:xfrm>
            <a:off x="3520440" y="3538728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1.797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6"/>
          <p:cNvSpPr/>
          <p:nvPr/>
        </p:nvSpPr>
        <p:spPr>
          <a:xfrm>
            <a:off x="4434840" y="3538728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0.449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6"/>
          <p:cNvSpPr/>
          <p:nvPr/>
        </p:nvSpPr>
        <p:spPr>
          <a:xfrm>
            <a:off x="5577840" y="3538728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56.53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6"/>
          <p:cNvSpPr/>
          <p:nvPr/>
        </p:nvSpPr>
        <p:spPr>
          <a:xfrm>
            <a:off x="6812280" y="3538728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0.99998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6"/>
          <p:cNvSpPr/>
          <p:nvPr/>
        </p:nvSpPr>
        <p:spPr>
          <a:xfrm>
            <a:off x="137160" y="3762756"/>
            <a:ext cx="8869680" cy="210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6"/>
          <p:cNvSpPr/>
          <p:nvPr/>
        </p:nvSpPr>
        <p:spPr>
          <a:xfrm>
            <a:off x="182880" y="3762756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6"/>
          <p:cNvSpPr/>
          <p:nvPr/>
        </p:nvSpPr>
        <p:spPr>
          <a:xfrm>
            <a:off x="1371600" y="3762756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1024×1024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6"/>
          <p:cNvSpPr/>
          <p:nvPr/>
        </p:nvSpPr>
        <p:spPr>
          <a:xfrm>
            <a:off x="2651760" y="3762756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7.258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6"/>
          <p:cNvSpPr/>
          <p:nvPr/>
        </p:nvSpPr>
        <p:spPr>
          <a:xfrm>
            <a:off x="3520440" y="3762756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1.603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6"/>
          <p:cNvSpPr/>
          <p:nvPr/>
        </p:nvSpPr>
        <p:spPr>
          <a:xfrm>
            <a:off x="4434840" y="3762756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0.401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6"/>
          <p:cNvSpPr/>
          <p:nvPr/>
        </p:nvSpPr>
        <p:spPr>
          <a:xfrm>
            <a:off x="5577840" y="3762756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34.44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6"/>
          <p:cNvSpPr/>
          <p:nvPr/>
        </p:nvSpPr>
        <p:spPr>
          <a:xfrm>
            <a:off x="6812280" y="3762756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0.99600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6"/>
          <p:cNvSpPr/>
          <p:nvPr/>
        </p:nvSpPr>
        <p:spPr>
          <a:xfrm>
            <a:off x="137160" y="3986784"/>
            <a:ext cx="8869680" cy="21031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6"/>
          <p:cNvSpPr/>
          <p:nvPr/>
        </p:nvSpPr>
        <p:spPr>
          <a:xfrm>
            <a:off x="182880" y="3986784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hybrid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6"/>
          <p:cNvSpPr/>
          <p:nvPr/>
        </p:nvSpPr>
        <p:spPr>
          <a:xfrm>
            <a:off x="1371600" y="3986784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1024×1024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2651760" y="3986784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14.261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3520440" y="3986784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0.816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6"/>
          <p:cNvSpPr/>
          <p:nvPr/>
        </p:nvSpPr>
        <p:spPr>
          <a:xfrm>
            <a:off x="4434840" y="3986784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0.102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6"/>
          <p:cNvSpPr/>
          <p:nvPr/>
        </p:nvSpPr>
        <p:spPr>
          <a:xfrm>
            <a:off x="5577840" y="3986784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56.53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6"/>
          <p:cNvSpPr/>
          <p:nvPr/>
        </p:nvSpPr>
        <p:spPr>
          <a:xfrm>
            <a:off x="6812280" y="3986784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0.99998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6"/>
          <p:cNvSpPr/>
          <p:nvPr/>
        </p:nvSpPr>
        <p:spPr>
          <a:xfrm>
            <a:off x="137160" y="4192524"/>
            <a:ext cx="8869680" cy="1828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6"/>
          <p:cNvSpPr/>
          <p:nvPr/>
        </p:nvSpPr>
        <p:spPr>
          <a:xfrm>
            <a:off x="137160" y="4210812"/>
            <a:ext cx="8869680" cy="210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6"/>
          <p:cNvSpPr/>
          <p:nvPr/>
        </p:nvSpPr>
        <p:spPr>
          <a:xfrm>
            <a:off x="182880" y="4210812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39C12"/>
                </a:solidFill>
                <a:latin typeface="Consolas"/>
                <a:ea typeface="Consolas"/>
                <a:cs typeface="Consolas"/>
                <a:sym typeface="Consolas"/>
              </a:rPr>
              <a:t>gcc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6"/>
          <p:cNvSpPr/>
          <p:nvPr/>
        </p:nvSpPr>
        <p:spPr>
          <a:xfrm>
            <a:off x="1371600" y="4210812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2048×2048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6"/>
          <p:cNvSpPr/>
          <p:nvPr/>
        </p:nvSpPr>
        <p:spPr>
          <a:xfrm>
            <a:off x="2651760" y="4210812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39.721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6"/>
          <p:cNvSpPr/>
          <p:nvPr/>
        </p:nvSpPr>
        <p:spPr>
          <a:xfrm>
            <a:off x="3520440" y="421081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6"/>
          <p:cNvSpPr/>
          <p:nvPr/>
        </p:nvSpPr>
        <p:spPr>
          <a:xfrm>
            <a:off x="4434840" y="421081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6"/>
          <p:cNvSpPr/>
          <p:nvPr/>
        </p:nvSpPr>
        <p:spPr>
          <a:xfrm>
            <a:off x="5577840" y="4210812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6"/>
          <p:cNvSpPr/>
          <p:nvPr/>
        </p:nvSpPr>
        <p:spPr>
          <a:xfrm>
            <a:off x="6812280" y="4210812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1.0000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6"/>
          <p:cNvSpPr/>
          <p:nvPr/>
        </p:nvSpPr>
        <p:spPr>
          <a:xfrm>
            <a:off x="137160" y="4434840"/>
            <a:ext cx="8869680" cy="21031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6"/>
          <p:cNvSpPr/>
          <p:nvPr/>
        </p:nvSpPr>
        <p:spPr>
          <a:xfrm>
            <a:off x="182880" y="443484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openmp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6"/>
          <p:cNvSpPr/>
          <p:nvPr/>
        </p:nvSpPr>
        <p:spPr>
          <a:xfrm>
            <a:off x="1371600" y="4434840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2048×2048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6"/>
          <p:cNvSpPr/>
          <p:nvPr/>
        </p:nvSpPr>
        <p:spPr>
          <a:xfrm>
            <a:off x="2651760" y="4434840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30.028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3520440" y="4434840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1.323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4434840" y="4434840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0.331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5577840" y="4434840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57.14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6812280" y="4434840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0.99998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6"/>
          <p:cNvSpPr/>
          <p:nvPr/>
        </p:nvSpPr>
        <p:spPr>
          <a:xfrm>
            <a:off x="137160" y="4658868"/>
            <a:ext cx="8869680" cy="2103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6"/>
          <p:cNvSpPr/>
          <p:nvPr/>
        </p:nvSpPr>
        <p:spPr>
          <a:xfrm>
            <a:off x="182880" y="4658868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mpi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1371600" y="4658868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2048×2048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2651760" y="4658868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28.848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6"/>
          <p:cNvSpPr/>
          <p:nvPr/>
        </p:nvSpPr>
        <p:spPr>
          <a:xfrm>
            <a:off x="3520440" y="4658868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1.377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4434840" y="4658868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0.344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5577840" y="4658868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35.75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6812280" y="4658868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0.99680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137160" y="4882896"/>
            <a:ext cx="8869680" cy="210312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F8F9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182880" y="4882896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27AE60"/>
                </a:solidFill>
                <a:latin typeface="Consolas"/>
                <a:ea typeface="Consolas"/>
                <a:cs typeface="Consolas"/>
                <a:sym typeface="Consolas"/>
              </a:rPr>
              <a:t>hybrid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6"/>
          <p:cNvSpPr/>
          <p:nvPr/>
        </p:nvSpPr>
        <p:spPr>
          <a:xfrm>
            <a:off x="1371600" y="4882896"/>
            <a:ext cx="12344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2048×2048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6"/>
          <p:cNvSpPr/>
          <p:nvPr/>
        </p:nvSpPr>
        <p:spPr>
          <a:xfrm>
            <a:off x="2651760" y="4882896"/>
            <a:ext cx="8229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61.680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3520440" y="4882896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0.644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4434840" y="4882896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0.080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6"/>
          <p:cNvSpPr/>
          <p:nvPr/>
        </p:nvSpPr>
        <p:spPr>
          <a:xfrm>
            <a:off x="5577840" y="4882896"/>
            <a:ext cx="1188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57.14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6"/>
          <p:cNvSpPr/>
          <p:nvPr/>
        </p:nvSpPr>
        <p:spPr>
          <a:xfrm>
            <a:off x="6812280" y="4882896"/>
            <a:ext cx="1051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0.99998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7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7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7"/>
          <p:cNvSpPr/>
          <p:nvPr/>
        </p:nvSpPr>
        <p:spPr>
          <a:xfrm>
            <a:off x="365760" y="493776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 &amp; Recommendations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7"/>
          <p:cNvSpPr/>
          <p:nvPr/>
        </p:nvSpPr>
        <p:spPr>
          <a:xfrm>
            <a:off x="228600" y="1051560"/>
            <a:ext cx="4251960" cy="1115568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7"/>
          <p:cNvSpPr/>
          <p:nvPr/>
        </p:nvSpPr>
        <p:spPr>
          <a:xfrm>
            <a:off x="228600" y="1051560"/>
            <a:ext cx="457200" cy="1115568"/>
          </a:xfrm>
          <a:prstGeom prst="rect">
            <a:avLst/>
          </a:prstGeom>
          <a:solidFill>
            <a:srgbClr val="27AE60">
              <a:alpha val="25098"/>
            </a:srgbClr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7"/>
          <p:cNvSpPr/>
          <p:nvPr/>
        </p:nvSpPr>
        <p:spPr>
          <a:xfrm>
            <a:off x="256032" y="142646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7"/>
          <p:cNvSpPr/>
          <p:nvPr/>
        </p:nvSpPr>
        <p:spPr>
          <a:xfrm>
            <a:off x="795528" y="11430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Use OpenMP for This Machine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7"/>
          <p:cNvSpPr/>
          <p:nvPr/>
        </p:nvSpPr>
        <p:spPr>
          <a:xfrm>
            <a:off x="795528" y="14630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Best single-machine backend (1.81× at 512, 1.32× at 2048). Fastest correct backend, no process spawn, no inter-process comms. Use 4 threads on the i5-8265U.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7"/>
          <p:cNvSpPr/>
          <p:nvPr/>
        </p:nvSpPr>
        <p:spPr>
          <a:xfrm>
            <a:off x="228600" y="2304288"/>
            <a:ext cx="4251960" cy="1115568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7"/>
          <p:cNvSpPr/>
          <p:nvPr/>
        </p:nvSpPr>
        <p:spPr>
          <a:xfrm>
            <a:off x="228600" y="2304288"/>
            <a:ext cx="457200" cy="1115568"/>
          </a:xfrm>
          <a:prstGeom prst="rect">
            <a:avLst/>
          </a:prstGeom>
          <a:solidFill>
            <a:srgbClr val="E67E22">
              <a:alpha val="25098"/>
            </a:srgbClr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7"/>
          <p:cNvSpPr/>
          <p:nvPr/>
        </p:nvSpPr>
        <p:spPr>
          <a:xfrm>
            <a:off x="256032" y="2679192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7"/>
          <p:cNvSpPr/>
          <p:nvPr/>
        </p:nvSpPr>
        <p:spPr>
          <a:xfrm>
            <a:off x="795528" y="239572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MPI for Large / Multi-Node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7"/>
          <p:cNvSpPr/>
          <p:nvPr/>
        </p:nvSpPr>
        <p:spPr>
          <a:xfrm>
            <a:off x="795528" y="2715768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Competitive at large sizes and improves with scale. MPI is the right choice for multi-node cluster deployment where working sets exceed L3 cache.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7"/>
          <p:cNvSpPr/>
          <p:nvPr/>
        </p:nvSpPr>
        <p:spPr>
          <a:xfrm>
            <a:off x="228600" y="3538728"/>
            <a:ext cx="4251960" cy="1115568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7"/>
          <p:cNvSpPr/>
          <p:nvPr/>
        </p:nvSpPr>
        <p:spPr>
          <a:xfrm>
            <a:off x="228600" y="3538728"/>
            <a:ext cx="457200" cy="1115568"/>
          </a:xfrm>
          <a:prstGeom prst="rect">
            <a:avLst/>
          </a:prstGeom>
          <a:solidFill>
            <a:srgbClr val="C0392B">
              <a:alpha val="25098"/>
            </a:srgbClr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7"/>
          <p:cNvSpPr/>
          <p:nvPr/>
        </p:nvSpPr>
        <p:spPr>
          <a:xfrm>
            <a:off x="256032" y="3913632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7"/>
          <p:cNvSpPr/>
          <p:nvPr/>
        </p:nvSpPr>
        <p:spPr>
          <a:xfrm>
            <a:off x="795528" y="36301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Hybrid Needs Real Cluster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7"/>
          <p:cNvSpPr/>
          <p:nvPr/>
        </p:nvSpPr>
        <p:spPr>
          <a:xfrm>
            <a:off x="795528" y="3950208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The hybrid backend should be tested on a 2-node cluster. On shared memory it has no advantage — per-iteration MPI_Allgatherv dominates entirely.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7"/>
          <p:cNvSpPr/>
          <p:nvPr/>
        </p:nvSpPr>
        <p:spPr>
          <a:xfrm>
            <a:off x="4709160" y="1051560"/>
            <a:ext cx="4251960" cy="1115568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7"/>
          <p:cNvSpPr/>
          <p:nvPr/>
        </p:nvSpPr>
        <p:spPr>
          <a:xfrm>
            <a:off x="4709160" y="1051560"/>
            <a:ext cx="457200" cy="1115568"/>
          </a:xfrm>
          <a:prstGeom prst="rect">
            <a:avLst/>
          </a:prstGeom>
          <a:solidFill>
            <a:srgbClr val="8E44AD">
              <a:alpha val="25098"/>
            </a:srgbClr>
          </a:solidFill>
          <a:ln cap="flat" cmpd="sng" w="127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7"/>
          <p:cNvSpPr/>
          <p:nvPr/>
        </p:nvSpPr>
        <p:spPr>
          <a:xfrm>
            <a:off x="4736592" y="142646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7"/>
          <p:cNvSpPr/>
          <p:nvPr/>
        </p:nvSpPr>
        <p:spPr>
          <a:xfrm>
            <a:off x="5276088" y="11430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44A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Tune Adaptive Convergence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7"/>
          <p:cNvSpPr/>
          <p:nvPr/>
        </p:nvSpPr>
        <p:spPr>
          <a:xfrm>
            <a:off x="5276088" y="14630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Increase epsilon to 1.0–5.0 and reduce max iterations to 10,000. Early stopping will trigger at ~3000–4000 iterations — genuine 40–60% savings.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7"/>
          <p:cNvSpPr/>
          <p:nvPr/>
        </p:nvSpPr>
        <p:spPr>
          <a:xfrm>
            <a:off x="4709160" y="2304288"/>
            <a:ext cx="4251960" cy="1115568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7"/>
          <p:cNvSpPr/>
          <p:nvPr/>
        </p:nvSpPr>
        <p:spPr>
          <a:xfrm>
            <a:off x="4709160" y="2304288"/>
            <a:ext cx="457200" cy="1115568"/>
          </a:xfrm>
          <a:prstGeom prst="rect">
            <a:avLst/>
          </a:prstGeom>
          <a:solidFill>
            <a:srgbClr val="1B4F72">
              <a:alpha val="25098"/>
            </a:srgbClr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7"/>
          <p:cNvSpPr/>
          <p:nvPr/>
        </p:nvSpPr>
        <p:spPr>
          <a:xfrm>
            <a:off x="4736592" y="2679192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7"/>
          <p:cNvSpPr/>
          <p:nvPr/>
        </p:nvSpPr>
        <p:spPr>
          <a:xfrm>
            <a:off x="5276088" y="239572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Fix MPI PSNR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7"/>
          <p:cNvSpPr/>
          <p:nvPr/>
        </p:nvSpPr>
        <p:spPr>
          <a:xfrm>
            <a:off x="5276088" y="2715768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Replace plain Jacobi in MPI with colour-based domain decomposition + boundary row exchange every iteration. Eliminates the 30 dB → 57 dB quality gap.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7A589"/>
          </a:solidFill>
          <a:ln cap="flat" cmpd="sng" w="12700">
            <a:solidFill>
              <a:srgbClr val="17A5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8"/>
          <p:cNvSpPr/>
          <p:nvPr/>
        </p:nvSpPr>
        <p:spPr>
          <a:xfrm>
            <a:off x="914400" y="100584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8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8"/>
          <p:cNvSpPr/>
          <p:nvPr/>
        </p:nvSpPr>
        <p:spPr>
          <a:xfrm>
            <a:off x="457200" y="2606040"/>
            <a:ext cx="1920240" cy="128016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8"/>
          <p:cNvSpPr/>
          <p:nvPr/>
        </p:nvSpPr>
        <p:spPr>
          <a:xfrm>
            <a:off x="457200" y="265176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1.81×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8"/>
          <p:cNvSpPr/>
          <p:nvPr/>
        </p:nvSpPr>
        <p:spPr>
          <a:xfrm>
            <a:off x="457200" y="327355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Best Speedup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(OpenMP @ 512)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8"/>
          <p:cNvSpPr/>
          <p:nvPr/>
        </p:nvSpPr>
        <p:spPr>
          <a:xfrm>
            <a:off x="2697480" y="2606040"/>
            <a:ext cx="1920240" cy="128016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8"/>
          <p:cNvSpPr/>
          <p:nvPr/>
        </p:nvSpPr>
        <p:spPr>
          <a:xfrm>
            <a:off x="2697480" y="265176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8–124×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8"/>
          <p:cNvSpPr/>
          <p:nvPr/>
        </p:nvSpPr>
        <p:spPr>
          <a:xfrm>
            <a:off x="2697480" y="327355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C++ vs Python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fastest 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8"/>
          <p:cNvSpPr/>
          <p:nvPr/>
        </p:nvSpPr>
        <p:spPr>
          <a:xfrm>
            <a:off x="4937760" y="2606040"/>
            <a:ext cx="1920240" cy="128016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8"/>
          <p:cNvSpPr/>
          <p:nvPr/>
        </p:nvSpPr>
        <p:spPr>
          <a:xfrm>
            <a:off x="4937760" y="265176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57 dB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8"/>
          <p:cNvSpPr/>
          <p:nvPr/>
        </p:nvSpPr>
        <p:spPr>
          <a:xfrm>
            <a:off x="4937760" y="327355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Peak PSNR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(OpenMP/Hybrid)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8"/>
          <p:cNvSpPr/>
          <p:nvPr/>
        </p:nvSpPr>
        <p:spPr>
          <a:xfrm>
            <a:off x="7178040" y="2606040"/>
            <a:ext cx="1920240" cy="1280160"/>
          </a:xfrm>
          <a:prstGeom prst="rect">
            <a:avLst/>
          </a:prstGeom>
          <a:solidFill>
            <a:srgbClr val="132238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8"/>
          <p:cNvSpPr/>
          <p:nvPr/>
        </p:nvSpPr>
        <p:spPr>
          <a:xfrm>
            <a:off x="7178040" y="265176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&lt;46%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8"/>
          <p:cNvSpPr/>
          <p:nvPr/>
        </p:nvSpPr>
        <p:spPr>
          <a:xfrm>
            <a:off x="7178040" y="327355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Max Parallel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8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5A5A6"/>
                </a:solidFill>
                <a:latin typeface="Calibri"/>
                <a:ea typeface="Calibri"/>
                <a:cs typeface="Calibri"/>
                <a:sym typeface="Calibri"/>
              </a:rPr>
              <a:t>Roll: 23i-0683 &amp; 23i-0622  ·  Section F  ·  CS-3006 PDC Spring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